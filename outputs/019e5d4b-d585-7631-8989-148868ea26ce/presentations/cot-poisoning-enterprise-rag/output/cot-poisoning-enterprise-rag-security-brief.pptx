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f8ab03d45848e2" /><Relationship Type="http://schemas.openxmlformats.org/officeDocument/2006/relationships/extended-properties" Target="/docProps/app.xml" Id="R0247dd575e53479c" /><Relationship Type="http://schemas.openxmlformats.org/officeDocument/2006/relationships/officeDocument" Target="/ppt/presentation.xml" Id="R7fe3007ba94f4a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0c954a6a3f4e3b"/>
  </p:sldMasterIdLst>
  <p:notesMasterIdLst>
    <p:notesMasterId xmlns:r="http://schemas.openxmlformats.org/officeDocument/2006/relationships" r:id="R5dd9470efb6d42cb"/>
  </p:notesMasterIdLst>
  <p:sldIdLst>
    <p:sldId xmlns:r="http://schemas.openxmlformats.org/officeDocument/2006/relationships" id="256" r:id="R68b31667d2f34179"/>
    <p:sldId xmlns:r="http://schemas.openxmlformats.org/officeDocument/2006/relationships" id="257" r:id="R4609d665b75440cf"/>
    <p:sldId xmlns:r="http://schemas.openxmlformats.org/officeDocument/2006/relationships" id="258" r:id="R284152fdda854870"/>
    <p:sldId xmlns:r="http://schemas.openxmlformats.org/officeDocument/2006/relationships" id="259" r:id="R568e0b2b92234bbe"/>
    <p:sldId xmlns:r="http://schemas.openxmlformats.org/officeDocument/2006/relationships" id="260" r:id="Reb78e23e73a94ddc"/>
    <p:sldId xmlns:r="http://schemas.openxmlformats.org/officeDocument/2006/relationships" id="261" r:id="R9df89537294e456d"/>
    <p:sldId xmlns:r="http://schemas.openxmlformats.org/officeDocument/2006/relationships" id="262" r:id="R50954c0593414adb"/>
    <p:sldId xmlns:r="http://schemas.openxmlformats.org/officeDocument/2006/relationships" id="263" r:id="R994d45ff786148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c954a6a3f4e3b" /><Relationship Type="http://schemas.openxmlformats.org/officeDocument/2006/relationships/theme" Target="/ppt/theme/theme1.xml" Id="R860685ecafc549da" /><Relationship Type="http://schemas.openxmlformats.org/officeDocument/2006/relationships/notesMaster" Target="/ppt/notesMasters/notesMaster1.xml" Id="R5dd9470efb6d42cb" /><Relationship Type="http://schemas.openxmlformats.org/officeDocument/2006/relationships/presProps" Target="/ppt/presProps.xml" Id="Rc1718422b48d4e9b" /><Relationship Type="http://schemas.openxmlformats.org/officeDocument/2006/relationships/viewProps" Target="/ppt/viewProps.xml" Id="R7a1a318f46f848a2" /><Relationship Type="http://schemas.openxmlformats.org/officeDocument/2006/relationships/tableStyles" Target="/ppt/tableStyles.xml" Id="Rd99a52a798824a11" /><Relationship Type="http://schemas.openxmlformats.org/officeDocument/2006/relationships/slide" Target="/ppt/slides/slide1.xml" Id="R68b31667d2f34179" /><Relationship Type="http://schemas.openxmlformats.org/officeDocument/2006/relationships/slide" Target="/ppt/slides/slide2.xml" Id="R4609d665b75440cf" /><Relationship Type="http://schemas.openxmlformats.org/officeDocument/2006/relationships/slide" Target="/ppt/slides/slide3.xml" Id="R284152fdda854870" /><Relationship Type="http://schemas.openxmlformats.org/officeDocument/2006/relationships/slide" Target="/ppt/slides/slide4.xml" Id="R568e0b2b92234bbe" /><Relationship Type="http://schemas.openxmlformats.org/officeDocument/2006/relationships/slide" Target="/ppt/slides/slide5.xml" Id="Reb78e23e73a94ddc" /><Relationship Type="http://schemas.openxmlformats.org/officeDocument/2006/relationships/slide" Target="/ppt/slides/slide6.xml" Id="R9df89537294e456d" /><Relationship Type="http://schemas.openxmlformats.org/officeDocument/2006/relationships/slide" Target="/ppt/slides/slide7.xml" Id="R50954c0593414adb" /><Relationship Type="http://schemas.openxmlformats.org/officeDocument/2006/relationships/slide" Target="/ppt/slides/slide8.xml" Id="R994d45ff786148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de54918d6e046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dc6dc173ec4451" /><Relationship Type="http://schemas.openxmlformats.org/officeDocument/2006/relationships/notesMaster" Target="/ppt/notesMasters/notesMaster1.xml" Id="R331da28ae68847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bb2d42d4ce4af3" /><Relationship Type="http://schemas.openxmlformats.org/officeDocument/2006/relationships/notesMaster" Target="/ppt/notesMasters/notesMaster1.xml" Id="R7f1c4e4e3da745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49096ec95d45b9" /><Relationship Type="http://schemas.openxmlformats.org/officeDocument/2006/relationships/notesMaster" Target="/ppt/notesMasters/notesMaster1.xml" Id="Re8d838f8841049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55f81963cf4202" /><Relationship Type="http://schemas.openxmlformats.org/officeDocument/2006/relationships/notesMaster" Target="/ppt/notesMasters/notesMaster1.xml" Id="R8748c1e9ecd142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e5e374c7a04973" /><Relationship Type="http://schemas.openxmlformats.org/officeDocument/2006/relationships/notesMaster" Target="/ppt/notesMasters/notesMaster1.xml" Id="R7e5604ac4de04c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8e49a3b9a6424d" /><Relationship Type="http://schemas.openxmlformats.org/officeDocument/2006/relationships/notesMaster" Target="/ppt/notesMasters/notesMaster1.xml" Id="R2a3130f39c2a45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b86df4d3c24d2a" /><Relationship Type="http://schemas.openxmlformats.org/officeDocument/2006/relationships/notesMaster" Target="/ppt/notesMasters/notesMaster1.xml" Id="R955381979cd549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9926b06d0943c6" /><Relationship Type="http://schemas.openxmlformats.org/officeDocument/2006/relationships/notesMaster" Target="/ppt/notesMasters/notesMaster1.xml" Id="R5cb50b31cca140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1e8aacd63425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cf7c23828794993" /><Relationship Type="http://schemas.openxmlformats.org/officeDocument/2006/relationships/slideLayout" Target="/ppt/slideLayouts/slideLayout2.xml" Id="R8297223db80b49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7223db80b49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cd8bb95cd14d28" /><Relationship Type="http://schemas.openxmlformats.org/officeDocument/2006/relationships/notesSlide" Target="/ppt/notesSlides/notesSlide1.xml" Id="R2a3da3ca4ba843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354fab011446e9" /><Relationship Type="http://schemas.openxmlformats.org/officeDocument/2006/relationships/notesSlide" Target="/ppt/notesSlides/notesSlide2.xml" Id="Rad0fa91be07542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00caa90e6d478f" /><Relationship Type="http://schemas.openxmlformats.org/officeDocument/2006/relationships/notesSlide" Target="/ppt/notesSlides/notesSlide3.xml" Id="R6365a10def2747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21decaf71d404a" /><Relationship Type="http://schemas.openxmlformats.org/officeDocument/2006/relationships/notesSlide" Target="/ppt/notesSlides/notesSlide4.xml" Id="R977ae4442ff844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bd21f2fd3a49d6" /><Relationship Type="http://schemas.openxmlformats.org/officeDocument/2006/relationships/notesSlide" Target="/ppt/notesSlides/notesSlide5.xml" Id="Rf2d71e28162141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f7ce8180514c1a" /><Relationship Type="http://schemas.openxmlformats.org/officeDocument/2006/relationships/notesSlide" Target="/ppt/notesSlides/notesSlide6.xml" Id="Rcf994ef4c7754f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513880de544923" /><Relationship Type="http://schemas.openxmlformats.org/officeDocument/2006/relationships/notesSlide" Target="/ppt/notesSlides/notesSlide7.xml" Id="Rac2f453f61b542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602e4c939547ea" /><Relationship Type="http://schemas.openxmlformats.org/officeDocument/2006/relationships/notesSlide" Target="/ppt/notesSlides/notesSlide8.xml" Id="R9fc93436463b4f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15E7E10-E919-4880-9E6C-263B6FD3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C"/>
          </a:solidFill>
          <a:ln xmlns:a="http://schemas.openxmlformats.org/drawingml/2006/main" w="0">
            <a:solidFill>
              <a:srgbClr val="0813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3B2AC-6491-4A8C-8443-0511642B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E51B3-8201-4CFC-98D6-CBDBD6C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RESEARCH BRIEF  /  ENTERPRISE LLM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FB3D4-7570-4DE5-8B99-276A5391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6572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信頼した内部文書が、</a:t>
            </a:r>
          </a:p>
          <a:p xmlns:a="http://schemas.openxmlformats.org/drawingml/2006/main">
            <a:pPr algn="l">
              <a:defRPr sz="4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LLM の判断を汚染する。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028B6-C8D2-40BC-828A-30EC6EEB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8098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Detecting Chain-of-Thought Poisoning in Enterprise LLM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D625D-6CA8-438E-93C2-6F831D77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623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Tendai Nemure  /  Yeshiva University MS Cybersecurity Capstone  /  April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F54E2-66BC-4BE3-AA8B-2B2C8539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C130E-4654-46E8-B5D7-5F6B4E7F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3C"/>
          </a:solidFill>
          <a:ln xmlns:a="http://schemas.openxmlformats.org/drawingml/2006/main" w="0">
            <a:solidFill>
              <a:srgbClr val="143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BDEBF-2DF9-4DFF-9BAE-2A649C92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DC27A-62E8-4729-8DA8-53A07A46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SOC 向け RAG では、取得文書の検知と</a:t>
            </a:r>
          </a:p>
          <a:p xmlns:a="http://schemas.openxmlformats.org/drawingml/2006/main">
            <a:pPr algn="l">
              <a:defRPr sz="18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判断変化の監視を同時に設計する必要がある。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39EB5-5A4B-4690-A265-847F50DC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1500"/>
            <a:ext cx="1905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D0E22-7CBF-4ED1-8527-A8118B6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04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rPr>
              <a:t>REPORTED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DE261-029E-412E-9BC1-1580D3FE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144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24.8%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87EA2-E11A-4887-B6CD-FF45158E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143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behavioral drift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8612D-6BCD-4873-BB07-1A844E65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812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62 / 250 poisoning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A2A6A-0A1B-4016-A349-0DAF0D4C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DAC97-5CF6-49C6-86A4-5D134C87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908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95.7%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A17C9-E7F3-4A12-BE40-4EB4AFF8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3143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precision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99BD1-CFCB-4B9B-88BD-D50DE8E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576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three-layer ensemble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00C45-0437-4533-9DEC-FC830FBA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005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90.0%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2A589-FA62-44A1-95DA-BC73E1BC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0150"/>
            <a:ext cx="3143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CA58C2-3955-4836-911D-07FD6805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673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three-layer ensemble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702E7-9321-49AB-8C16-36A5D02B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2CCE1-3C73-41C1-88C2-BB3B00F0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Source: Nemure (2026), Abstract; Tables 5.2-5.4, pp.19-21. 数値は論文報告値。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4A008E-BB00-4854-9073-625711E4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8620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8D3422E-3E7E-4F35-B33E-925A8752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C"/>
          </a:solidFill>
          <a:ln xmlns:a="http://schemas.openxmlformats.org/drawingml/2006/main" w="0">
            <a:solidFill>
              <a:srgbClr val="0813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BA9D2-2776-48F3-B38A-94C351E2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C6D8D-8C2A-49F6-B1F7-A1DC6E16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ATTACK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CBC60-7349-4AF3-8CDD-655003F6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攻撃者はプロンプトではなく、信頼された取得文書を偽装する。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7A9AF-6BD6-47DB-8170-19C38F76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604EE-1C95-4088-8CD5-B898799B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81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Source: Chapter 1, p.9; Section 1.2, p.10.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F02F4-C5D2-4A55-BB8D-5A0EC7AD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1F19D-6920-4F73-97B6-B8ED06F8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3C"/>
          </a:solidFill>
          <a:ln xmlns:a="http://schemas.openxmlformats.org/drawingml/2006/main" w="0">
            <a:solidFill>
              <a:srgbClr val="143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3186B-07F1-43C7-B325-6A952DB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ENTERPRISE RAG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A7844-A9B0-4E04-92C6-20B35C42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8859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B1466-9F2A-4607-AC05-50552332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8761B-5C29-4834-8F3E-835ADCFA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543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Knowledge 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482F9-AB45-46E6-937E-BC85CA05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runbooks</a:t>
            </a:r>
          </a:p>
          <a:p xmlns:a="http://schemas.openxmlformats.org/drawingml/2006/main">
            <a:pPr algn="l">
              <a:defRPr sz="11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policy files</a:t>
            </a:r>
          </a:p>
          <a:p xmlns:a="http://schemas.openxmlformats.org/drawingml/2006/main">
            <a:pPr algn="l">
              <a:defRPr sz="11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analyst notes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2B33B-A8BB-4793-98A0-0E97F4EB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62300"/>
            <a:ext cx="1828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395D9-3818-4669-90E5-91CD4874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62300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A9295-091C-42EF-8E5F-69685B13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52800"/>
            <a:ext cx="1485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Retrieval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0DFCC-AF87-486B-92F8-8870F93F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7665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trusted</a:t>
            </a:r>
          </a:p>
          <a:p xmlns:a="http://schemas.openxmlformats.org/drawingml/2006/main">
            <a:pPr algn="l">
              <a:defRPr sz="11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00A2B-B5CE-4E08-AAAF-2921B15E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62300"/>
            <a:ext cx="19431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AD115-4114-4FBB-8C12-87CC184A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6230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AD4AB-C501-47CF-A6BD-2C63BEA2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52800"/>
            <a:ext cx="1600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Triage LLM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7038C-AE92-4E8B-BB5B-34F42D3C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severity +</a:t>
            </a:r>
          </a:p>
          <a:p xmlns:a="http://schemas.openxmlformats.org/drawingml/2006/main">
            <a:pPr algn="l">
              <a:defRPr sz="11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escalation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FBF393-4BE3-4117-8734-E36CEF6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26479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D5F4F-874C-4A0E-8B4C-D423E1F4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3ECB8-5962-42B5-BBC6-A8A2F32B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52800"/>
            <a:ext cx="2305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SOC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BB2E2-91B6-487F-BAF9-0624C6BA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downgrade / suppress</a:t>
            </a:r>
          </a:p>
          <a:p xmlns:a="http://schemas.openxmlformats.org/drawingml/2006/main">
            <a:pPr algn="l">
              <a:defRPr sz="11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誤判断が成立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36148A-B45C-42C0-9A61-0F6A3ACE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731421-7B19-4F92-AF6C-BCB8269A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63855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E9EA9-9CA6-4D11-A2A4-5DDF1B95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33800"/>
            <a:ext cx="390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392721-8704-4E91-88A8-13D48D2F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A9CAE8-F26B-44DF-94C9-918C5847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33800"/>
            <a:ext cx="390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895C"/>
          </a:solidFill>
          <a:ln xmlns:a="http://schemas.openxmlformats.org/drawingml/2006/main" w="0">
            <a:solidFill>
              <a:srgbClr val="FA89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8774BD-1363-434A-8D41-C9EA36C3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3855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7E2952-3DD1-4622-A17F-C2D96790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1885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51F"/>
          </a:solidFill>
          <a:ln xmlns:a="http://schemas.openxmlformats.org/drawingml/2006/main" w="0">
            <a:solidFill>
              <a:srgbClr val="3825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00B3A9-19FC-47E6-BB3C-E3D41864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1885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895C"/>
          </a:solidFill>
          <a:ln xmlns:a="http://schemas.openxmlformats.org/drawingml/2006/main" w="0">
            <a:solidFill>
              <a:srgbClr val="FA895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B7874C-3E39-48D6-9E91-B4D51090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764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POISONED DOCUMENT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C8EC57-7FF3-4041-BEAA-6B52564B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偽 runbook /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D36693-2252-4EE6-80BE-CF11D4F3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1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895C"/>
          </a:solidFill>
          <a:ln xmlns:a="http://schemas.openxmlformats.org/drawingml/2006/main" w="0">
            <a:solidFill>
              <a:srgbClr val="FA895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129F2B-51AA-4B6F-84DF-7CF71CBE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論文の攻撃前提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5F52DF-D858-4553-BAE4-A3CFDEBA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0048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攻撃者は knowledge base に文書を注入できる。</a:t>
            </a:r>
          </a:p>
          <a:p xmlns:a="http://schemas.openxmlformats.org/drawingml/2006/main">
            <a:pPr algn="l">
              <a:def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モデル本体・system prompt・検知コードは変更しない。</a:t>
            </a:r>
          </a:p>
        </p:txBody>
      </p:sp>
    </p:spTree>
    <p:extLst>
      <p:ext uri="{BB962C8B-B14F-4D97-AF65-F5344CB8AC3E}">
        <p14:creationId xmlns:p14="http://schemas.microsoft.com/office/powerpoint/2010/main" val="5113344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FD8C1B6-62C8-435B-8871-B6C7EABA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C"/>
          </a:solidFill>
          <a:ln xmlns:a="http://schemas.openxmlformats.org/drawingml/2006/main" w="0">
            <a:solidFill>
              <a:srgbClr val="0813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0CD81-A0C4-4F52-9615-9A196458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6C9C3-712A-435B-8F5A-165D754E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THREAT DISTINCTION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D7A1A-AB62-442F-A3EE-717D4A52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CoT poisoning は「指示の上書き」ではなく、「根拠の偽装」である。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BE671-5A27-425A-87F9-A33ECD4C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BB8AE-5140-4F46-A347-E7BAE680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81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Source: Chapter 1, p.9; Sections 2.1-2.3, pp.12-13.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714C9-A595-49D2-BE28-1E69DC7E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464CA-9AFD-4CD4-A7E3-08698DF1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C39"/>
          </a:solidFill>
          <a:ln xmlns:a="http://schemas.openxmlformats.org/drawingml/2006/main" w="0">
            <a:solidFill>
              <a:srgbClr val="152C3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D309F-68E3-4BD9-AA0E-F15A20C1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rPr>
              <a:t>PROMPT INJECTION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A8BD7-964A-4A67-8C11-85C97D63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51F"/>
          </a:solidFill>
          <a:ln xmlns:a="http://schemas.openxmlformats.org/drawingml/2006/main" w="0">
            <a:solidFill>
              <a:srgbClr val="3825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F2F19-A0CB-4B75-85BA-1D8D8EF2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04975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CoT POISONING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4BB99-C054-4744-AC5D-4ED8DE34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D7FF6-4EE6-4130-A076-347D50EF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攻撃位置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DACED-D435-49D6-B346-87E7949E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入力プロンプト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C8259-3F4C-42E4-9664-8B23AAA9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攻撃位置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144C8-7C7A-4858-AA71-B5B22E31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38350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retrieved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59E77-D959-433F-AB86-B90D8B14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9FD18-74F7-4855-9E24-63869085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1C9A5-5FEA-4981-BE58-86115535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10C01-E936-4996-B8B1-42B87048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"ignore previous instructions"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36B79A-E40B-411F-9C1B-49A2EB95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F8A03-4E9C-4BAB-A355-CD62AC5D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偽 runbook / 偽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229F1-9BFE-40B4-A428-2FC382B2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B2CAB-8D34-41EB-9E5C-C76C75E3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18923-8616-4D13-A899-71E9EB50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狙い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56837C-D6B9-4E53-8147-89D06DB0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76650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命令を上書き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C50A1-05AE-4CE9-8124-7AD0DA67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狙い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B5212C-BF1A-4D07-A81F-E908BE1E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判断理由をもっともらしく歪める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5A9312-5186-4F95-AA1A-905998AA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E1103D-2606-438D-A11B-409AA0EE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15AD04-24E0-4BCE-9B63-1AC4440B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防御の核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AC2531-3B11-4B3C-A003-C294D469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95800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pattern signature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F34DD3-5E65-4AC4-90BF-EDE92B64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958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防御の核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3E777D-425B-46A0-9847-4CADC7AA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95800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drift + reasoning validation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87C7D8-6714-4F79-A352-FFAC7540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37C447-B3D1-418B-893B-5FBEDF06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863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8970E6-6069-464F-943E-73A7C17D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687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B6DAD4-598C-4F77-AFDB-461D75DD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29275"/>
            <a:ext cx="10287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C565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8C565"/>
                </a:solidFill>
                <a:latin typeface="Aptos Display"/>
                <a:ea typeface="Aptos Display"/>
                <a:cs typeface="Aptos Display"/>
              </a:rPr>
              <a:t>実装上は分離しきれない: Layer 1 は prompt injection signature を CoT 防御の一部として再利用する。</a:t>
            </a:r>
          </a:p>
        </p:txBody>
      </p:sp>
    </p:spTree>
    <p:extLst>
      <p:ext uri="{BB962C8B-B14F-4D97-AF65-F5344CB8AC3E}">
        <p14:creationId xmlns:p14="http://schemas.microsoft.com/office/powerpoint/2010/main" val="17286469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97D4FC8-B24F-48F3-82C6-94383DFB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C"/>
          </a:solidFill>
          <a:ln xmlns:a="http://schemas.openxmlformats.org/drawingml/2006/main" w="0">
            <a:solidFill>
              <a:srgbClr val="0813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70BA3-2BFA-4385-ABA8-E7986D0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5BBE8-7161-4117-8CA6-D469035E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DEFENSE IN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386CF-BB52-48DA-9E71-A47CA13E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3つの観測点が、RAG の誤判断を decision level で囲い込む。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C352D-1112-4281-A6EE-9FBDE782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213E7-C9CA-4133-B963-96052997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81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Source: Sections 2.1-2.5, pp.12-14; Appendix A.2, p.25.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7C7C0-FB3E-4EAE-BA0A-F4EDDA53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3F1E9-5876-4117-9065-312C72FA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C39"/>
          </a:solidFill>
          <a:ln xmlns:a="http://schemas.openxmlformats.org/drawingml/2006/main" w="0">
            <a:solidFill>
              <a:srgbClr val="152C3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22EC1-7CFE-4FBB-A225-7E5C96BA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86C3C-03EF-4EBB-9936-9948FF0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764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3C"/>
          </a:solidFill>
          <a:ln xmlns:a="http://schemas.openxmlformats.org/drawingml/2006/main" w="0">
            <a:solidFill>
              <a:srgbClr val="143A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EAAC4-E63E-44B8-A267-797B3E23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04975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DETECTION 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EE12D-BF7C-4A25-AA81-1EE3DBE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764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51F"/>
          </a:solidFill>
          <a:ln xmlns:a="http://schemas.openxmlformats.org/drawingml/2006/main" w="0">
            <a:solidFill>
              <a:srgbClr val="3825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5E8DF-6763-43C4-BED9-DEE26C64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704975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RISK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FE09D-C1EC-456D-8F16-A292F452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1600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5C0EB-7CCE-469A-BF69-655C0C49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160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19AA0-3E16-4A36-B59C-867C353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Retrieved</a:t>
            </a:r>
          </a:p>
          <a:p xmlns:a="http://schemas.openxmlformats.org/drawingml/2006/main">
            <a:pPr algn="l">
              <a:def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D358F-4497-4410-92E6-B386F431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SOC 文書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8935C-99AC-47E5-8D83-C0AF746E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52650"/>
            <a:ext cx="4362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1E646-382C-4A88-8E0F-A6D5E469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52650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8AFD0-5753-4392-9AF6-013F0344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38594-CB13-47C9-90E6-88992AB7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Regex patterns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DE89F-1529-47D4-AA57-874AF2F2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94 signatures / known techniques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15AA9-8A74-41B5-8D53-B64D87D8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4362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DCF2AA-D3B2-4C11-8DF6-C71DC0AF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CB6C0-E54E-4EC2-AACD-82BD5889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766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98F25B-2C60-41CB-A43A-68656B63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1947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Behavioral drift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D2BE20-4E46-46B2-B47A-32357411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24275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clean vs poisoned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9A54E-CD0F-43A6-8FD3-5D6E4A4A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19600"/>
            <a:ext cx="4362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8A894A-D436-46BF-BA48-9228D328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19600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25D1B-F9D9-494E-BBA9-B3321A07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01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7709E-7D0F-46A5-AA0D-A40BE169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52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LLM-as-Judge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FE947E-2009-490F-8B6E-AFF01624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5775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reasoning-integrity validator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708D0C-7737-4CCB-8143-28D53302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3850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FAC762-0CA3-488F-9416-81CE2ED9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7F03A3-B5DC-4EA9-AC40-1A609CAA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3650"/>
            <a:ext cx="1905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A0CE81-0565-4223-ADFB-62CD9F43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365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CDE5C5-867B-4C13-A084-B5ED7040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7665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129C81-FE94-4E43-941E-583D731B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101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78FA4C-3984-4108-9B00-FE551B31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485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C39"/>
          </a:solidFill>
          <a:ln xmlns:a="http://schemas.openxmlformats.org/drawingml/2006/main" w="0">
            <a:solidFill>
              <a:srgbClr val="152C3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110A78-17BA-4493-8BB1-84657020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48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9C6E59-F03E-422A-83B4-7C6E637A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1085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TIERED</a:t>
            </a:r>
          </a:p>
          <a:p xmlns:a="http://schemas.openxmlformats.org/drawingml/2006/main">
            <a:pPr algn="l">
              <a:def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OR LOGIC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204818-7A55-4295-A025-3D83D48D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00475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C56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8C565"/>
                </a:solidFill>
                <a:latin typeface="Aptos Display"/>
                <a:ea typeface="Aptos Display"/>
                <a:cs typeface="Aptos Display"/>
              </a:rPr>
              <a:t>any 1 signal</a:t>
            </a:r>
          </a:p>
          <a:p xmlns:a="http://schemas.openxmlformats.org/drawingml/2006/main">
            <a:pPr algn="l">
              <a:defRPr sz="1200" b="1">
                <a:solidFill>
                  <a:srgbClr val="F8C56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8C565"/>
                </a:solidFill>
                <a:latin typeface="Aptos Display"/>
                <a:ea typeface="Aptos Display"/>
                <a:cs typeface="Aptos Display"/>
              </a:rPr>
              <a:t>= flag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78ED4B-BA7B-4ABB-8A30-C4FD29B5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14825"/>
            <a:ext cx="1066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2+ signals</a:t>
            </a:r>
          </a:p>
          <a:p xmlns:a="http://schemas.openxmlformats.org/drawingml/2006/main">
            <a:pPr algn="l">
              <a:defRPr sz="12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= block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D562DC-5B86-46EE-AA6D-E2BDFEC8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00475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DE73C0-712F-42C1-A149-046DD0E6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05225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2E9766-D560-478D-AE0B-663CB72E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00300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3C"/>
          </a:solidFill>
          <a:ln xmlns:a="http://schemas.openxmlformats.org/drawingml/2006/main" w="0">
            <a:solidFill>
              <a:srgbClr val="143A3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76027A-B540-4B12-81C0-F919368C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0030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33D053-5DCD-4242-9C8D-953E57F8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09850"/>
            <a:ext cx="1162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FLAG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790EC4-2AEE-4B28-AF44-05F4E2D6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933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1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1EB"/>
                </a:solidFill>
                <a:latin typeface="Aptos"/>
                <a:ea typeface="Aptos"/>
                <a:cs typeface="Aptos"/>
              </a:rPr>
              <a:t>medium risk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1C5A5E-D592-451B-82DB-20AA3E34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81450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51F"/>
          </a:solidFill>
          <a:ln xmlns:a="http://schemas.openxmlformats.org/drawingml/2006/main" w="0">
            <a:solidFill>
              <a:srgbClr val="38251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350B7A-0365-480D-B357-BB99497C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8145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153253-66B1-4417-980C-79408EA1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191000"/>
            <a:ext cx="1162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BLOCK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66B73E-591B-4F7B-B8DA-4DD58B33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514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1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1EB"/>
                </a:solidFill>
                <a:latin typeface="Aptos"/>
                <a:ea typeface="Aptos"/>
                <a:cs typeface="Aptos"/>
              </a:rPr>
              <a:t>high risk</a:t>
            </a:r>
          </a:p>
        </p:txBody>
      </p:sp>
    </p:spTree>
    <p:extLst>
      <p:ext uri="{BB962C8B-B14F-4D97-AF65-F5344CB8AC3E}">
        <p14:creationId xmlns:p14="http://schemas.microsoft.com/office/powerpoint/2010/main" val="13115295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9450D61-DFF0-4111-9D59-06B62324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C"/>
          </a:solidFill>
          <a:ln xmlns:a="http://schemas.openxmlformats.org/drawingml/2006/main" w="0">
            <a:solidFill>
              <a:srgbClr val="0813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C970A-B4BF-41C7-8945-834A1724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B0664-97FC-488B-B5F2-2946FCDD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BEHAVIORAL DRIFT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D5817-E0DC-4E46-8EDC-3AC10D37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現実的な poison は、4回に1回弱でトリアージ判断を変えた。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F6276-A6A6-4ECC-BED5-F4F956ED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64E6C-53B8-4B7E-9110-2F4C7E01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81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Source: Tables 5.2-5.3, pp.19-20. n=250 poisoning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9369F-826A-4F80-9D46-BF94B982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FE9F6-5803-4353-95D3-83FA1288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51F"/>
          </a:solidFill>
          <a:ln xmlns:a="http://schemas.openxmlformats.org/drawingml/2006/main" w="0">
            <a:solidFill>
              <a:srgbClr val="38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F7C1F-69B5-4519-A72C-5A2C1BE5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04975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62 / 250 TESTS DRIFTED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AA1DB-BF1B-4870-B6BB-7401617F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24.8%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21CEC-9EB5-4775-8528-2D073A97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2619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overall behavioral drift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41DE3-1749-4CC6-BF65-37B765D3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50 cases x 5 poison 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A7B6A-60D8-4D58-B710-F030C521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モデルは約75%を耐えた。</a:t>
            </a:r>
          </a:p>
          <a:p xmlns:a="http://schemas.openxmlformats.org/drawingml/2006/main">
            <a:pPr algn="l">
              <a:def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それでも残る25%が運用リスク。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741FC-E8C7-4DD3-8A16-748C22CA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rPr>
              <a:t>DRIFT RATE BY POISON 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D81C2-DEE2-49EC-9741-33BEE3EF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Deescalation bias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B407A-3001-4E82-84F0-D0914346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02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C39"/>
          </a:solidFill>
          <a:ln xmlns:a="http://schemas.openxmlformats.org/drawingml/2006/main" w="0">
            <a:solidFill>
              <a:srgbClr val="152C3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B4817-3CBB-4433-863F-4CC30DAE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0275"/>
            <a:ext cx="3257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895C"/>
          </a:solidFill>
          <a:ln xmlns:a="http://schemas.openxmlformats.org/drawingml/2006/main" w="0">
            <a:solidFill>
              <a:srgbClr val="FA89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EC6F-A6E2-4868-9A6A-703CAF93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71700"/>
            <a:ext cx="666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38.0%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FB464-B856-413C-AD3C-0A4CAEED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Authority hijacking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9EDC4-A950-4141-9E37-8CC3E0FA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670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C39"/>
          </a:solidFill>
          <a:ln xmlns:a="http://schemas.openxmlformats.org/drawingml/2006/main" w="0">
            <a:solidFill>
              <a:srgbClr val="152C3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9F19C-6E27-4B98-B1D0-DEBA1602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67025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895C"/>
          </a:solidFill>
          <a:ln xmlns:a="http://schemas.openxmlformats.org/drawingml/2006/main" w="0">
            <a:solidFill>
              <a:srgbClr val="FA89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C51D4-A58D-4D08-936F-A130FBE3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38450"/>
            <a:ext cx="666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36.0%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D8842-5B54-4737-AE67-2347681B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False positive framing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E3462-4E07-470E-AE69-1E084C9B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337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C39"/>
          </a:solidFill>
          <a:ln xmlns:a="http://schemas.openxmlformats.org/drawingml/2006/main" w="0">
            <a:solidFill>
              <a:srgbClr val="152C3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0F653-CEC7-473B-9242-165F2094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33775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895C"/>
          </a:solidFill>
          <a:ln xmlns:a="http://schemas.openxmlformats.org/drawingml/2006/main" w="0">
            <a:solidFill>
              <a:srgbClr val="FA89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306AD1-D6EB-4680-AB39-47A00F01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05200"/>
            <a:ext cx="666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32.0%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A55D4-2290-4CFB-967B-49D0D618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Statistical manipulation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19F1D3-6BE9-4C8B-843A-6D03E9A6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C39"/>
          </a:solidFill>
          <a:ln xmlns:a="http://schemas.openxmlformats.org/drawingml/2006/main" w="0">
            <a:solidFill>
              <a:srgbClr val="152C3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3B9C2-A39A-45E3-B1BF-C73C1EFD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AF58B-6967-483B-A24C-BEAC73A8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71950"/>
            <a:ext cx="666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12.0%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A1D97C-F6A2-4A86-8996-8E1ED75D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Policy contradiction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0B80B6-51E3-4640-8C9D-DEAF066F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72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C39"/>
          </a:solidFill>
          <a:ln xmlns:a="http://schemas.openxmlformats.org/drawingml/2006/main" w="0">
            <a:solidFill>
              <a:srgbClr val="152C3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0C70FB-CA69-47D7-A73A-00C6D622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72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C8D23E-AA7C-4906-9612-9DF9E3A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38700"/>
            <a:ext cx="666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6.0%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2B7B9C-F734-4DC0-8A82-C9044BCC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6197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n=50 per type</a:t>
            </a:r>
          </a:p>
        </p:txBody>
      </p:sp>
    </p:spTree>
    <p:extLst>
      <p:ext uri="{BB962C8B-B14F-4D97-AF65-F5344CB8AC3E}">
        <p14:creationId xmlns:p14="http://schemas.microsoft.com/office/powerpoint/2010/main" val="10715791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6945662-1B19-48F6-A273-8F012CC1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C"/>
          </a:solidFill>
          <a:ln xmlns:a="http://schemas.openxmlformats.org/drawingml/2006/main" w="0">
            <a:solidFill>
              <a:srgbClr val="0813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53A4D-1157-476E-A1F2-9D55989C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6650F-DB5B-4307-9E65-B4501596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ENSEMBLE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FB285-A3E6-4D62-A216-6BC147F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平均化より OR logic: 強い単独信号を消さない設計が recall を押し上げた。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93A5D-02C0-40E6-ACD7-2B4AF95B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60032-F5FF-459B-B67E-2876D30C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81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Source: Table 5.4, p.21; Section 6.2.1, pp.23-24.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FDFD6-09CA-404F-B176-3641FD74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AE36A-BCE0-461E-99BC-B719A822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3C"/>
          </a:solidFill>
          <a:ln xmlns:a="http://schemas.openxmlformats.org/drawingml/2006/main" w="0">
            <a:solidFill>
              <a:srgbClr val="143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12624-E3E1-4FB1-9F27-27492FEF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SCORING DESIGN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F6097-98C9-4E25-97BE-040BCE27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32766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19DD7-0064-4862-81CF-911EE6B8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DE879-CD3A-466E-A6EF-DDC61FAC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Weighted average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4E6FA-FCA4-4368-8D28-CA60312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0.25L1 + 0.45L2 + 0.30L3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6205A-4110-4D15-93EF-27F115BE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B00FC-5615-4580-BC2A-1C3C3744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2476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8565A-744D-41CF-8112-ED7EBC95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strong signal can be canceled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5EC6A-E951-4F2A-BA13-E611E841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81350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0C0F8-D2F5-470F-8C5B-00F92CDE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861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FE852-7809-490F-A381-2DE1D3B7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32766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3C"/>
          </a:solidFill>
          <a:ln xmlns:a="http://schemas.openxmlformats.org/drawingml/2006/main" w="0">
            <a:solidFill>
              <a:srgbClr val="143A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18345-4547-4D35-BC1B-E4AD009E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1D18A-7401-4F77-AC70-984AEBB8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Tiered OR logic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20A4B-DF80-4D25-B6D0-7D4890EF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62275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1 signal = flag / 2+ = block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5D0AA2-2F3C-4F2C-82CE-38991F7E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623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90%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9B2FD2-BE8B-4E59-866F-52B72B17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71925"/>
            <a:ext cx="2571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recall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CDE8E-E7AD-4CD4-B346-9D1B7179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291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ensemble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7E939-8FC3-4B65-8FBC-33AC4E09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24025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rPr>
              <a:t>FINAL ENSEMBLE PERFORMANCE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534C6-3CEA-4255-9559-392CB454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95.7%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57C02-8BD0-443E-92CB-BD3272ED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432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precision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37C180-CE4E-43E8-A9A3-4F95FB02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956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96F047-F152-495C-8AED-09D6653B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0425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90.0%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F81B62-82F0-40FD-A442-F921FA53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recall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DD870-938F-48B5-9887-CCF054A8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957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DD4CE5-544E-4EE4-B351-180C16ED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92.8%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E5454A-9FDE-4B53-B9D2-7AC39ED3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4347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F1 score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F1526B-8B3E-4EC2-8BDF-B8C3A4C1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782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C39"/>
          </a:solidFill>
          <a:ln xmlns:a="http://schemas.openxmlformats.org/drawingml/2006/main" w="0">
            <a:solidFill>
              <a:srgbClr val="152C3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8E28AF-7437-4E5A-AA60-EBEFC1AE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7286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C565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8C565"/>
                </a:solidFill>
                <a:latin typeface="Aptos Display"/>
                <a:ea typeface="Aptos Display"/>
                <a:cs typeface="Aptos Display"/>
              </a:rPr>
              <a:t>Layer 1 単独は detection 58.6% で目標未達。ensemble の一部として評価された。</a:t>
            </a:r>
          </a:p>
        </p:txBody>
      </p:sp>
    </p:spTree>
    <p:extLst>
      <p:ext uri="{BB962C8B-B14F-4D97-AF65-F5344CB8AC3E}">
        <p14:creationId xmlns:p14="http://schemas.microsoft.com/office/powerpoint/2010/main" val="7838514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E635EAB-15F7-4D76-9310-56188648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C"/>
          </a:solidFill>
          <a:ln xmlns:a="http://schemas.openxmlformats.org/drawingml/2006/main" w="0">
            <a:solidFill>
              <a:srgbClr val="0813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22E03-D25F-4821-AD04-CFC169AB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C6CC6-3FF3-4DBF-816C-7FCBBA76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EVALUATION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22F6E-146F-4BE9-A00C-A7F8E369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強い結果だが、LLM-as-Judge の独立性はまだ証明されていない。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76BE8-C1BA-4CE5-962E-406C1DC4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FD2D2-4B38-4894-AAC3-2F0023E3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81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Source: Sections 1.2, 2.4, 3.3, pp.10, 13, 16; Table 5.4, p.21.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28E9B-BFEA-471C-A308-66EED1F8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509ED-1906-41F9-B5A2-45ED81A4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51F"/>
          </a:solidFill>
          <a:ln xmlns:a="http://schemas.openxmlformats.org/drawingml/2006/main" w="0">
            <a:solidFill>
              <a:srgbClr val="38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C73ED-8797-4659-B670-9062C80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DEPENDENCY IN LABELING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B97EC-1184-4A68-87FA-92845141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2247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D0D72-1F2E-47A6-8EB1-355667CB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7CCD4-3D2F-48DA-A476-FB3F3040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562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Layer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CE8C9-579A-42DA-A860-DFF22B95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behavioral drift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2220C-5AA3-4C84-84BB-C97B1A8E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label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5D4FF-48BF-43B8-A6F7-01753066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895C"/>
          </a:solidFill>
          <a:ln xmlns:a="http://schemas.openxmlformats.org/drawingml/2006/main" w="0">
            <a:solidFill>
              <a:srgbClr val="FA89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7E5D1-194B-4547-A328-059B31B3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50443-6833-435D-A69B-A16B2D2D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2705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51F"/>
          </a:solidFill>
          <a:ln xmlns:a="http://schemas.openxmlformats.org/drawingml/2006/main" w="0">
            <a:solidFill>
              <a:srgbClr val="3825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93CDB-3375-4167-86BC-EE8866A0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6071E-4C81-4753-8F5A-446868A1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Ground truth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8A964-B2C1-473D-9F42-D9ACCB87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19425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Compromised / Clean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A4B97-2F90-42C3-B3F7-A6B16D3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4800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895C"/>
          </a:solidFill>
          <a:ln xmlns:a="http://schemas.openxmlformats.org/drawingml/2006/main" w="0">
            <a:solidFill>
              <a:srgbClr val="FA89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B9D450-628C-4BDE-8016-89DF4575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5275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B1C572-768A-413C-BDAD-ADC883C4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3181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A327A5-592F-4CD1-A4C5-29E717C3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72569-F192-40DF-AB58-0B991996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2362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Layer 3 / Judge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1AF76-27EA-4166-B5E8-89F59313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19425"/>
            <a:ext cx="2362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P 97.4%  /  R 76.0%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11C042-0B01-48C2-B7EB-79162FF1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255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evaluated against drift labels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0E3CF-52FC-4462-8F5B-24D95605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333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残る3つの確認事項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B7A054-747B-4557-A76E-0CC8C281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475445-1C0E-469E-9B4C-3DD2D0AE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72000"/>
            <a:ext cx="9934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1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1EB"/>
                </a:solidFill>
                <a:latin typeface="Aptos"/>
                <a:ea typeface="Aptos"/>
                <a:cs typeface="Aptos"/>
              </a:rPr>
              <a:t>decision が変わらない manipulation を judge は検出できるか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84D92-B4F9-42E8-A635-66B2D099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345110-390E-49A1-96A4-0A6176E6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10150"/>
            <a:ext cx="9934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1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1EB"/>
                </a:solidFill>
                <a:latin typeface="Aptos"/>
                <a:ea typeface="Aptos"/>
                <a:cs typeface="Aptos"/>
              </a:rPr>
              <a:t>50件の triage cases は実 SOC を十分に代表するか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8C3850-5837-4515-A04B-71EE0731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8FFB50-BA72-451E-8E8E-76D020C3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48300"/>
            <a:ext cx="9934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1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1EB"/>
                </a:solidFill>
                <a:latin typeface="Aptos"/>
                <a:ea typeface="Aptos"/>
                <a:cs typeface="Aptos"/>
              </a:rPr>
              <a:t>NIST AI RMF alignment は設計意図であり、監査済み適合ではない</a:t>
            </a:r>
          </a:p>
        </p:txBody>
      </p:sp>
    </p:spTree>
    <p:extLst>
      <p:ext uri="{BB962C8B-B14F-4D97-AF65-F5344CB8AC3E}">
        <p14:creationId xmlns:p14="http://schemas.microsoft.com/office/powerpoint/2010/main" val="20993850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8EFE792-01C8-428D-81B3-AFAD9F20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C"/>
          </a:solidFill>
          <a:ln xmlns:a="http://schemas.openxmlformats.org/drawingml/2006/main" w="0">
            <a:solidFill>
              <a:srgbClr val="0813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8733-7BC6-4F37-8183-CEC8292A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FC867-9F62-405F-85CA-3518C33E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RESEARCH AGENDA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D5ECE-9F77-4F40-9495-B38463B1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次の問いは、取得知識を「使える」から「信頼できる」へ進められるか。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1F0AB-5466-42A3-8CE4-1E5D245C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DB478-6982-4C85-8962-28790142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81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Source: Nemure (2026), interpreted research agenda based on reported limits; Research LLM Wiki synthesis.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01304-62DB-4684-85A7-B36F39D8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0D96A-208C-4D01-B69D-3021E5E7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3C"/>
          </a:solidFill>
          <a:ln xmlns:a="http://schemas.openxmlformats.org/drawingml/2006/main" w="0">
            <a:solidFill>
              <a:srgbClr val="143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9EA42-68F0-42DE-B1A0-5369ABF3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049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2C0DC-FFBD-46AF-9337-96BABB4F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本論文は enterprise RAG の SOC triage で CoT poisoning と3層検知を評価した。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04714-C63D-4406-97F4-F4478C48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51F"/>
          </a:solidFill>
          <a:ln xmlns:a="http://schemas.openxmlformats.org/drawingml/2006/main" w="0">
            <a:solidFill>
              <a:srgbClr val="3825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D6340-BF4D-4525-AA89-C9FB8D2B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F0518-4E05-4B99-B2F8-9FFB86BE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81225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GraphRAG / LLM Wiki への展開は、別途検証すべき研究接続である。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AF97E-19E3-4F0D-868B-77903EB8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276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21161-3544-4495-BA96-4375C92D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062FF-BACD-4AEA-B097-040BC2A8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0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8C0E4-F20A-4230-AF6F-01333555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19525"/>
            <a:ext cx="2714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rPr>
              <a:t>PROVENANCE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C8D3B-EB48-49A3-923B-79B7E8BA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19575"/>
            <a:ext cx="2800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どの取得文書が判断を変えたかを追跡できるか。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6E4F3-38F0-4F46-B905-E6BC99FD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05150"/>
            <a:ext cx="3276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51F"/>
          </a:solidFill>
          <a:ln xmlns:a="http://schemas.openxmlformats.org/drawingml/2006/main" w="0">
            <a:solidFill>
              <a:srgbClr val="3825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293CFC-D216-4A48-A01F-12BB03A4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0515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3F77F-C244-4E3A-9F3A-C7A95DBE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333750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A895C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DB0B0-4A8D-4CD5-BF91-44B89D7F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19525"/>
            <a:ext cx="2714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rPr>
              <a:t>JUDGE RELIABILITY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C3979-EE80-4977-A636-CA4E3EB9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19575"/>
            <a:ext cx="2800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drift 非依存ラベルで judge を評価できるか。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EC5F7-D63A-4944-8064-1EB7F9E0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3276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solidFill>
              <a:srgbClr val="1023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728F8-0F93-4C55-8D85-AEC2DCB0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14D"/>
          </a:solidFill>
          <a:ln xmlns:a="http://schemas.openxmlformats.org/drawingml/2006/main" w="0">
            <a:solidFill>
              <a:srgbClr val="2541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3E9ED2-B5FF-432A-A063-28F3BB2B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333750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8D3C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8ACCC-4B0E-4D0F-A728-FAA7CA84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819525"/>
            <a:ext cx="2714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7BAC1"/>
                </a:solidFill>
                <a:latin typeface="Aptos Display"/>
                <a:ea typeface="Aptos Display"/>
                <a:cs typeface="Aptos Display"/>
              </a:rPr>
              <a:t>SOC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F65118-DB93-4BAA-A733-EA23395F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219575"/>
            <a:ext cx="2800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flag / block を監査・対応手順に接続できるか。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AA885-9BF3-4F22-82CF-D68C2BFD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C8"/>
          </a:solidFill>
          <a:ln xmlns:a="http://schemas.openxmlformats.org/drawingml/2006/main" w="0">
            <a:solidFill>
              <a:srgbClr val="38D3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E9031F-5627-4CC1-B766-C80D6C41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10810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1EB"/>
                </a:solidFill>
                <a:latin typeface="Aptos Display"/>
                <a:ea typeface="Aptos Display"/>
                <a:cs typeface="Aptos Display"/>
              </a:rPr>
              <a:t>共有時の一言: これは「LLM が脆弱だった」話ではなく、「信頼した取得知識をどう監視するか」の研究である。</a:t>
            </a:r>
          </a:p>
        </p:txBody>
      </p:sp>
    </p:spTree>
    <p:extLst>
      <p:ext uri="{BB962C8B-B14F-4D97-AF65-F5344CB8AC3E}">
        <p14:creationId xmlns:p14="http://schemas.microsoft.com/office/powerpoint/2010/main" val="1491063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2026-05-25T19:18:45.8520000Z</dcterms:created>
  <dcterms:modified xsi:type="dcterms:W3CDTF">2026-05-25T19:18:45.8520000Z</dcterms:modified>
</coreProperties>
</file>